
<file path=[Content_Types].xml><?xml version="1.0" encoding="utf-8"?>
<Types xmlns="http://schemas.openxmlformats.org/package/2006/content-types">
  <Default Extension="app" ContentType="image/png"/>
  <Default Extension="com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0" r:id="rId3"/>
    <p:sldId id="281" r:id="rId4"/>
    <p:sldId id="282" r:id="rId5"/>
    <p:sldId id="283" r:id="rId6"/>
    <p:sldId id="257" r:id="rId7"/>
    <p:sldId id="258" r:id="rId8"/>
    <p:sldId id="259" r:id="rId9"/>
    <p:sldId id="260" r:id="rId10"/>
    <p:sldId id="262" r:id="rId11"/>
    <p:sldId id="261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84" r:id="rId25"/>
    <p:sldId id="275" r:id="rId26"/>
    <p:sldId id="276" r:id="rId27"/>
    <p:sldId id="277" r:id="rId28"/>
    <p:sldId id="278" r:id="rId29"/>
    <p:sldId id="285" r:id="rId30"/>
    <p:sldId id="286" r:id="rId31"/>
    <p:sldId id="279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680C0E-B5E4-43C1-8935-136102653EF4}" v="1" dt="2026-08-31T05:51:17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1" autoAdjust="0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8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 Narayana" userId="7817d878a6a8584f" providerId="LiveId" clId="{15B43482-D5CB-4AFA-874B-86A1A11A6413}"/>
    <pc:docChg chg="addSld delSld modSld">
      <pc:chgData name="Satya Narayana" userId="7817d878a6a8584f" providerId="LiveId" clId="{15B43482-D5CB-4AFA-874B-86A1A11A6413}" dt="2026-08-31T05:51:17.784" v="5"/>
      <pc:docMkLst>
        <pc:docMk/>
      </pc:docMkLst>
      <pc:sldChg chg="addSp modSp new del mod">
        <pc:chgData name="Satya Narayana" userId="7817d878a6a8584f" providerId="LiveId" clId="{15B43482-D5CB-4AFA-874B-86A1A11A6413}" dt="2026-08-31T05:37:27.961" v="4" actId="47"/>
        <pc:sldMkLst>
          <pc:docMk/>
          <pc:sldMk cId="2019994047" sldId="285"/>
        </pc:sldMkLst>
        <pc:picChg chg="add mod">
          <ac:chgData name="Satya Narayana" userId="7817d878a6a8584f" providerId="LiveId" clId="{15B43482-D5CB-4AFA-874B-86A1A11A6413}" dt="2026-08-31T05:37:02.125" v="3" actId="1076"/>
          <ac:picMkLst>
            <pc:docMk/>
            <pc:sldMk cId="2019994047" sldId="285"/>
            <ac:picMk id="2" creationId="{315478A6-A6E9-E5A9-D6A4-D7EDFEC15854}"/>
          </ac:picMkLst>
        </pc:picChg>
      </pc:sldChg>
      <pc:sldChg chg="add">
        <pc:chgData name="Satya Narayana" userId="7817d878a6a8584f" providerId="LiveId" clId="{15B43482-D5CB-4AFA-874B-86A1A11A6413}" dt="2026-08-31T05:51:17.784" v="5"/>
        <pc:sldMkLst>
          <pc:docMk/>
          <pc:sldMk cId="2115565819" sldId="285"/>
        </pc:sldMkLst>
      </pc:sldChg>
      <pc:sldChg chg="add">
        <pc:chgData name="Satya Narayana" userId="7817d878a6a8584f" providerId="LiveId" clId="{15B43482-D5CB-4AFA-874B-86A1A11A6413}" dt="2026-08-31T05:51:17.784" v="5"/>
        <pc:sldMkLst>
          <pc:docMk/>
          <pc:sldMk cId="4092704862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55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FFE9B-15A6-6897-6D86-AF2BD5706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E395F-3346-7AEC-470D-271634D55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E61C5-0D9B-F8C9-1AA0-5A0AE9B70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E2A0F-6BC2-415C-612D-182C9655D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939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com"/><Relationship Id="rId2" Type="http://schemas.openxmlformats.org/officeDocument/2006/relationships/image" Target="../media/image5.com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ap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834640" cy="2834640"/>
          </a:xfrm>
          <a:prstGeom prst="roundRect">
            <a:avLst>
              <a:gd name="adj" fmla="val 4839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0" y="82296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 · WORKSHOP SESSION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introduction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617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4617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377440" y="461772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4617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4617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114800" y="461772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1F2E52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4617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4617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852160" y="461772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4617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577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talk through each concept while running the code live —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B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just watch, follow along, and ask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802BE2-6F78-73B3-470F-DB344A6E9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92" y="0"/>
            <a:ext cx="110020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2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578F8-17BC-03FE-C817-B6351A0A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962F0A-99DB-76CF-B7CF-1E8CD7E17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914"/>
            <a:ext cx="12192000" cy="643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0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F77F09-2A85-36C5-C7CD-3D5A45DB5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137"/>
            <a:ext cx="12192000" cy="635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428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827BF-3365-BD9E-73B2-B65A3556F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579"/>
            <a:ext cx="12192000" cy="641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012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Flask handles a request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542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URL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37744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66160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542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over the web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237744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3F4F8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542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Python app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237744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52560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2542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back to you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97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Flask's job: receive the request, decide what to do, send back a response.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FIRST REQUEST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Flask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852160" cy="3211830"/>
          </a:xfrm>
          <a:prstGeom prst="roundRect">
            <a:avLst>
              <a:gd name="adj" fmla="val 2562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3055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13055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3055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4825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68880"/>
            <a:ext cx="530352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 import Flask
</a:t>
            </a:r>
            <a:r>
              <a:rPr lang="en-US" sz="1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Flask(__name__)
</a:t>
            </a:r>
            <a:r>
              <a:rPr lang="en-US" sz="14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@app.route("/")
</a:t>
            </a:r>
            <a:r>
              <a:rPr lang="en-US" sz="14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
    return "Hello World!"
</a:t>
            </a:r>
            <a:r>
              <a:rPr lang="en-US" sz="1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app.run()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2148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251192" y="21305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Flask(__name__)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251192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Flask app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29900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251192" y="29718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251192" y="3264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Flask application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3831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251192" y="38130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@app.route()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251192" y="41056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URL → function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20840" y="46725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2084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51192" y="46542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app.run()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251192" y="49469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server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ROUTING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URLs, different functions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69164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691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Route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69164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691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Function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169164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869680" y="169164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0" y="1691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5029200" cy="1528763"/>
          </a:xfrm>
          <a:prstGeom prst="roundRect">
            <a:avLst>
              <a:gd name="adj" fmla="val 5383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227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" y="3227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2144" y="3227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371600" y="31455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566160"/>
            <a:ext cx="4480560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@app.route("/")
</a:t>
            </a:r>
            <a:r>
              <a:rPr lang="en-US" sz="135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
    return "Hello World!"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72200" y="3063240"/>
            <a:ext cx="5029200" cy="1794510"/>
          </a:xfrm>
          <a:prstGeom prst="roundRect">
            <a:avLst>
              <a:gd name="adj" fmla="val 4586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73368" y="3227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6574536" y="3227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6775704" y="3227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95160" y="31455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566160"/>
            <a:ext cx="448056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@app.route("/about")
</a:t>
            </a:r>
            <a:r>
              <a:rPr lang="en-US" sz="135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about():
    return "This is the
            About page"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many routes — each URL maps to its own function.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DYNAMIC ROUTES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can carry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977640" cy="1961833"/>
          </a:xfrm>
          <a:prstGeom prst="roundRect">
            <a:avLst>
              <a:gd name="adj" fmla="val 4195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0253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3429000" cy="132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@app.route("/hello/&lt;name&gt;")
</a:t>
            </a:r>
            <a:r>
              <a:rPr lang="en-US" sz="125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hello(name):
    return f"Hello {name}!
            Welcome to my
            website."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92040" y="1965960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96596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/hello/satya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5877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92040" y="2825496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282549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"satya"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4472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92040" y="3685032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68503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43068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92040" y="4544568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454456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comes after /hello/ becomes the name variable.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THE POST REQUEST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vs. POST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707624" cy="457200"/>
          </a:xfrm>
          <a:prstGeom prst="roundRect">
            <a:avLst>
              <a:gd name="adj" fmla="val 12000"/>
            </a:avLst>
          </a:prstGeom>
          <a:solidFill>
            <a:srgbClr val="1F2E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3867912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598664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0707624" cy="420624"/>
          </a:xfrm>
          <a:prstGeom prst="rect">
            <a:avLst/>
          </a:prstGeom>
          <a:solidFill>
            <a:srgbClr val="1B2A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99339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867912" y="19933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request data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598664" y="19933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data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414016"/>
            <a:ext cx="10707624" cy="42062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41401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triggered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67912" y="24140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URL / navigate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598664" y="24140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/ client sends request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10707624" cy="420624"/>
          </a:xfrm>
          <a:prstGeom prst="rect">
            <a:avLst/>
          </a:prstGeom>
          <a:solidFill>
            <a:srgbClr val="1B2A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28346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goes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67912" y="28346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598664" y="28346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255264"/>
            <a:ext cx="10707624" cy="42062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2552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URL?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867912" y="32552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598664" y="32552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3675888"/>
            <a:ext cx="10707624" cy="420624"/>
          </a:xfrm>
          <a:prstGeom prst="rect">
            <a:avLst/>
          </a:prstGeom>
          <a:solidFill>
            <a:srgbClr val="1B2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367588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type the URL?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867912" y="36758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598664" y="36758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096512"/>
            <a:ext cx="10707624" cy="42062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40965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867912" y="40965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/users?name=satya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598664" y="40965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773168"/>
            <a:ext cx="5280660" cy="457200"/>
          </a:xfrm>
          <a:prstGeom prst="roundRect">
            <a:avLst>
              <a:gd name="adj" fmla="val 14000"/>
            </a:avLst>
          </a:prstGeom>
          <a:solidFill>
            <a:srgbClr val="1F2E5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49808" y="4773168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→ </a:t>
            </a:r>
            <a:r>
              <a:rPr lang="en-US" sz="11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/users?name=satya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75604" y="4773168"/>
            <a:ext cx="5280660" cy="457200"/>
          </a:xfrm>
          <a:prstGeom prst="roundRect">
            <a:avLst>
              <a:gd name="adj" fmla="val 14000"/>
            </a:avLst>
          </a:prstGeom>
          <a:solidFill>
            <a:srgbClr val="1F2E5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176772" y="4773168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→ </a:t>
            </a:r>
            <a:r>
              <a:rPr lang="en-US" sz="11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r>
              <a:rPr lang="en-US" sz="1150" dirty="0">
                <a:solidFill>
                  <a:srgbClr val="AAB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(data in body)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486400"/>
            <a:ext cx="1070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asks for something. POST sends something.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THE GET REQUEST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GET: the default request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737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opens URL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7373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737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request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7373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737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route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17373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961120" y="17373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1737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6766560" cy="1558290"/>
          </a:xfrm>
          <a:prstGeom prst="roundRect">
            <a:avLst>
              <a:gd name="adj" fmla="val 5281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227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" y="3227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2144" y="3227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371600" y="314553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requestget.py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566160"/>
            <a:ext cx="6217920" cy="91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@app.route("/", methods=["GET"])
</a:t>
            </a:r>
            <a:r>
              <a:rPr lang="en-US" sz="14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
    return "GET request received!"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35240" y="3246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352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65592" y="32278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method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165592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browser navigation sends GET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35240" y="4087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352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65592" y="4069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methods=["GET"]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165592" y="43616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it explicit in the route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HTML FORMS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 form to Flask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943600" cy="3931920"/>
          </a:xfrm>
          <a:prstGeom prst="roundRect">
            <a:avLst>
              <a:gd name="adj" fmla="val 232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5943600" cy="365760"/>
          </a:xfrm>
          <a:prstGeom prst="rect">
            <a:avLst/>
          </a:prstGeom>
          <a:solidFill>
            <a:srgbClr val="E4E6E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025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0025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20025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05840" y="32461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3246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388620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3886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45720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03720" y="2103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037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34072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434072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inputs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03720" y="2944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372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34072" y="2926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34072" y="3218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each field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03720" y="3785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0372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34072" y="3767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434072" y="40599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the form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903720" y="46268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0372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34072" y="46085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name="username"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49011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field to Flask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FORM SUBMISSION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form data go?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1012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880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/login?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username=satya</a:t>
            </a:r>
            <a:r>
              <a:rPr lang="en-US" sz="105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50" dirty="0">
                <a:solidFill>
                  <a:srgbClr val="F2C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password=1234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86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URL</a:t>
            </a:r>
            <a:endParaRPr lang="en-US" sz="14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(query parameters, visible)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35040" y="19202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0" y="288036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1F2E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880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886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AA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Request Body</a:t>
            </a:r>
            <a:endParaRPr lang="en-US" sz="14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AA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shown in the URL)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· FORM ACTION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vs. action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03520" cy="1361440"/>
          </a:xfrm>
          <a:prstGeom prst="roundRect">
            <a:avLst>
              <a:gd name="adj" fmla="val 6045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025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login.html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47548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method="POST"
      action="/login"&gt;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5478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3840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form sends its 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4074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4389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4681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form sends 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1783080"/>
            <a:ext cx="4937760" cy="603504"/>
          </a:xfrm>
          <a:prstGeom prst="roundRect">
            <a:avLst>
              <a:gd name="adj" fmla="val 12121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78308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38658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09360" y="2624328"/>
            <a:ext cx="4937760" cy="603504"/>
          </a:xfrm>
          <a:prstGeom prst="roundRect">
            <a:avLst>
              <a:gd name="adj" fmla="val 12121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262432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"Login"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2278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09360" y="3465576"/>
            <a:ext cx="4937760" cy="603504"/>
          </a:xfrm>
          <a:prstGeom prst="roundRect">
            <a:avLst>
              <a:gd name="adj" fmla="val 12121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346557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40690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309360" y="4306824"/>
            <a:ext cx="4937760" cy="603504"/>
          </a:xfrm>
          <a:prstGeom prst="roundRect">
            <a:avLst>
              <a:gd name="adj" fmla="val 12121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430682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/login route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· REQUEST.FORM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receives the form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00" cy="2453957"/>
          </a:xfrm>
          <a:prstGeom prst="roundRect">
            <a:avLst>
              <a:gd name="adj" fmla="val 3354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0253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6766560" cy="181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@app.route("/login", methods=["POST"])
def login():
</a:t>
            </a:r>
            <a:r>
              <a:rPr lang="en-US" sz="12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 = request.form.get("username")
    password = request.form.get("password")
</a:t>
            </a:r>
            <a:r>
              <a:rPr lang="en-US" sz="125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  return f"Username: {username},
            Password: {password}"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83880" y="1737360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73736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26771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83880" y="2432304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243230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96265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83880" y="3127248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3127248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365760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83880" y="3822192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82219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request.form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35254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83880" y="4517136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83880" y="4517136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gets the values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· RENDER_TEMPLATE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HTML out of Python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can live separately from Python — Flask just loads it when needed.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480560" cy="2011680"/>
          </a:xfrm>
          <a:prstGeom prst="roundRect">
            <a:avLst>
              <a:gd name="adj" fmla="val 4545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603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
templates/
</a:t>
            </a:r>
            <a:r>
              <a:rPr lang="en-US" sz="17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login.html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5394960" cy="1755140"/>
          </a:xfrm>
          <a:prstGeom prst="roundRect">
            <a:avLst>
              <a:gd name="adj" fmla="val 4689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469087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469087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469087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46085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029200"/>
            <a:ext cx="4846320" cy="111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@app.route("/")
def home():
</a:t>
            </a: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render_template(
        "login.html")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2468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251192" y="24505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251192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Flask looks 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20840" y="3310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51192" y="3291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render_template()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251192" y="35844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and returns the HTML file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· VALIDATION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the data. Now let's check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63240" y="173736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063240" y="1737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2286000"/>
            <a:ext cx="0" cy="502920"/>
          </a:xfrm>
          <a:prstGeom prst="line">
            <a:avLst/>
          </a:prstGeom>
          <a:noFill/>
          <a:ln w="19050">
            <a:solidFill>
              <a:srgbClr val="00D9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2286000"/>
            <a:ext cx="1554480" cy="502920"/>
          </a:xfrm>
          <a:prstGeom prst="line">
            <a:avLst/>
          </a:prstGeom>
          <a:noFill/>
          <a:ln w="19050">
            <a:solidFill>
              <a:srgbClr val="00D9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78892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278892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3337560"/>
            <a:ext cx="0" cy="502920"/>
          </a:xfrm>
          <a:prstGeom prst="line">
            <a:avLst/>
          </a:prstGeom>
          <a:noFill/>
          <a:ln w="19050">
            <a:solidFill>
              <a:srgbClr val="00D9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3337560"/>
            <a:ext cx="0" cy="502920"/>
          </a:xfrm>
          <a:prstGeom prst="line">
            <a:avLst/>
          </a:prstGeom>
          <a:noFill/>
          <a:ln w="19050">
            <a:solidFill>
              <a:srgbClr val="00D9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84048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00D9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384048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3D1F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0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737360" y="4617720"/>
            <a:ext cx="8686800" cy="1282700"/>
          </a:xfrm>
          <a:prstGeom prst="roundRect">
            <a:avLst>
              <a:gd name="adj" fmla="val 6416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38528" y="478231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2139696" y="478231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2340864" y="478231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560320" y="47000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validateforms.py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5120640"/>
            <a:ext cx="813816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username == "admin" and password == "1234":
</a:t>
            </a:r>
            <a:r>
              <a:rPr lang="en-US" sz="14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"Login successful!"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· STORAGE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users come from?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1912620"/>
          </a:xfrm>
          <a:prstGeom prst="roundRect">
            <a:avLst>
              <a:gd name="adj" fmla="val 4303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025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storedict.py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4846320" cy="127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= {
    "admin": "1234",
    "satya": "abcd"
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20840" y="1828800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18288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37744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20840" y="2578608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25786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12724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20840" y="3328416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332841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stops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87705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20840" y="4078224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407822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disappears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— but it only lives as long as the app is running.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 · SQLITE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stays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46120" cy="566928"/>
          </a:xfrm>
          <a:prstGeom prst="roundRect">
            <a:avLst>
              <a:gd name="adj" fmla="val 1451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  </a:t>
            </a:r>
            <a:r>
              <a:rPr lang="en-US" sz="135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temporary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6916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246120" cy="566928"/>
          </a:xfrm>
          <a:prstGeom prst="roundRect">
            <a:avLst>
              <a:gd name="adj" fmla="val 14516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6916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 </a:t>
            </a:r>
            <a:r>
              <a:rPr lang="en-US" sz="1350" dirty="0">
                <a:solidFill>
                  <a:srgbClr val="C7C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persistent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7680960" cy="2306320"/>
          </a:xfrm>
          <a:prstGeom prst="roundRect">
            <a:avLst>
              <a:gd name="adj" fmla="val 3568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7706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950976" y="27706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27706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2688336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sqlconn.py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108960"/>
            <a:ext cx="7132320" cy="166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sqlite3
</a:t>
            </a:r>
            <a:r>
              <a:rPr lang="en-US" sz="16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 = sqlite3.connect("users.db")
</a:t>
            </a:r>
            <a:r>
              <a:rPr lang="en-US" sz="16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conn.close()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 · CREATE TABLE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users table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492240" cy="2385060"/>
          </a:xfrm>
          <a:prstGeom prst="roundRect">
            <a:avLst>
              <a:gd name="adj" fmla="val 3450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0253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createtable.py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5943600" cy="174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conn.execute("""
</a:t>
            </a:r>
            <a:r>
              <a:rPr lang="en-US" sz="1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users (
</a:t>
            </a:r>
            <a:r>
              <a:rPr lang="en-US" sz="14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 TEXT,
    password TEXT
)
""")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52360" y="219456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52360" y="21945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74320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52360" y="2980944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298094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52958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52360" y="3767328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2360" y="37673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 exists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15 · INSERT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user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949440" cy="2011045"/>
          </a:xfrm>
          <a:prstGeom prst="roundRect">
            <a:avLst>
              <a:gd name="adj" fmla="val 4092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0253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6400800" cy="1370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conn.execute(
</a:t>
            </a: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"INSERT INTO users(username, password)
     VALUES('admin', '1234')"
</a:t>
            </a: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conn.commit()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1783080"/>
            <a:ext cx="379476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18120" y="17830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229514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18120" y="2478024"/>
            <a:ext cx="3794760" cy="512064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2478024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299008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818120" y="3172968"/>
            <a:ext cx="379476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18120" y="317296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368503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818120" y="3867912"/>
            <a:ext cx="379476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18120" y="3867912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stored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16 · SELECT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user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309360" cy="2266950"/>
          </a:xfrm>
          <a:prstGeom prst="roundRect">
            <a:avLst>
              <a:gd name="adj" fmla="val 3630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0253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5760720" cy="162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conn.execute(
</a:t>
            </a: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"SELECT * FROM users
     WHERE username = 'admin'"
</a:t>
            </a: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= result.fetchone()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69480" y="1783080"/>
            <a:ext cx="4343400" cy="512064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178308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295144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69480" y="2478024"/>
            <a:ext cx="434340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247802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user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990088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69480" y="3172968"/>
            <a:ext cx="434340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3172968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row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68503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69480" y="3867912"/>
            <a:ext cx="434340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9480" y="386791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fetchone()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69480" y="4709160"/>
            <a:ext cx="4343400" cy="777240"/>
          </a:xfrm>
          <a:prstGeom prst="roundRect">
            <a:avLst>
              <a:gd name="adj" fmla="val 9412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4709160"/>
            <a:ext cx="18059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441180" y="4709160"/>
            <a:ext cx="18059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17 · PUTTING IT ALL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Browser Request to Authentication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251960" y="1417320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51960" y="14173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51960" y="185623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51960" y="1984248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9842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4231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51960" y="2551176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51960" y="25511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2990088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51960" y="3118104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31181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request.form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55701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51960" y="3685032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51960" y="36850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51960" y="412394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51960" y="4251960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51960" y="42519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user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469087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251960" y="4818888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51960" y="48188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password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251960" y="525780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251960" y="5385816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51960" y="53858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Invalid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DC7BE-1260-B99F-227B-DE3569BE8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BA2162-7225-46A5-64E1-FE6A8138DA9D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7BE175-7F2A-4534-9D19-A8422111D294}"/>
              </a:ext>
            </a:extLst>
          </p:cNvPr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</a:t>
            </a:r>
            <a:endParaRPr lang="en-US" sz="3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9F5BEEA-6FDB-45F3-7D70-705A64496CFA}"/>
              </a:ext>
            </a:extLst>
          </p:cNvPr>
          <p:cNvSpPr/>
          <p:nvPr/>
        </p:nvSpPr>
        <p:spPr>
          <a:xfrm>
            <a:off x="621792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1667EE4-E114-D0BC-2C0B-7AA3A8A73E46}"/>
              </a:ext>
            </a:extLst>
          </p:cNvPr>
          <p:cNvSpPr txBox="1"/>
          <p:nvPr/>
        </p:nvSpPr>
        <p:spPr>
          <a:xfrm>
            <a:off x="667512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90A0EDF-E654-8A6B-D5EF-52E703F43B59}"/>
              </a:ext>
            </a:extLst>
          </p:cNvPr>
          <p:cNvSpPr/>
          <p:nvPr/>
        </p:nvSpPr>
        <p:spPr>
          <a:xfrm>
            <a:off x="2843784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D4D7EB-3230-AC18-1AD9-249E60FAC2A5}"/>
              </a:ext>
            </a:extLst>
          </p:cNvPr>
          <p:cNvSpPr txBox="1"/>
          <p:nvPr/>
        </p:nvSpPr>
        <p:spPr>
          <a:xfrm>
            <a:off x="2889504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Routes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E6BE5D-D603-5824-FB19-9D1F982E3B48}"/>
              </a:ext>
            </a:extLst>
          </p:cNvPr>
          <p:cNvSpPr/>
          <p:nvPr/>
        </p:nvSpPr>
        <p:spPr>
          <a:xfrm>
            <a:off x="5065776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E584337-C52A-8511-E0A7-FE0B8611F185}"/>
              </a:ext>
            </a:extLst>
          </p:cNvPr>
          <p:cNvSpPr txBox="1"/>
          <p:nvPr/>
        </p:nvSpPr>
        <p:spPr>
          <a:xfrm>
            <a:off x="5111496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95B60DF-8D05-3B13-D640-26CA38944FC9}"/>
              </a:ext>
            </a:extLst>
          </p:cNvPr>
          <p:cNvSpPr/>
          <p:nvPr/>
        </p:nvSpPr>
        <p:spPr>
          <a:xfrm>
            <a:off x="7287768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1410CA4-4A2D-1E3E-7088-0BCAC5E4B976}"/>
              </a:ext>
            </a:extLst>
          </p:cNvPr>
          <p:cNvSpPr txBox="1"/>
          <p:nvPr/>
        </p:nvSpPr>
        <p:spPr>
          <a:xfrm>
            <a:off x="7333488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5B5E8D0-128D-93CA-C1C5-C1986E55BA87}"/>
              </a:ext>
            </a:extLst>
          </p:cNvPr>
          <p:cNvSpPr/>
          <p:nvPr/>
        </p:nvSpPr>
        <p:spPr>
          <a:xfrm>
            <a:off x="9509760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6C0BF62-2B34-2872-E34B-B872FD2CA276}"/>
              </a:ext>
            </a:extLst>
          </p:cNvPr>
          <p:cNvSpPr txBox="1"/>
          <p:nvPr/>
        </p:nvSpPr>
        <p:spPr>
          <a:xfrm>
            <a:off x="9555480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Forms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0DB8448-27B3-04D8-FB12-7BF6518246F9}"/>
              </a:ext>
            </a:extLst>
          </p:cNvPr>
          <p:cNvSpPr/>
          <p:nvPr/>
        </p:nvSpPr>
        <p:spPr>
          <a:xfrm>
            <a:off x="621792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AEBB0CA-513B-4A89-6948-CBA69EB6D5E0}"/>
              </a:ext>
            </a:extLst>
          </p:cNvPr>
          <p:cNvSpPr txBox="1"/>
          <p:nvPr/>
        </p:nvSpPr>
        <p:spPr>
          <a:xfrm>
            <a:off x="667512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request.form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0511519-CA91-A9CD-7DAE-944B768A660B}"/>
              </a:ext>
            </a:extLst>
          </p:cNvPr>
          <p:cNvSpPr/>
          <p:nvPr/>
        </p:nvSpPr>
        <p:spPr>
          <a:xfrm>
            <a:off x="2843784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C46A4E-D595-B47E-5A77-F4969477C01F}"/>
              </a:ext>
            </a:extLst>
          </p:cNvPr>
          <p:cNvSpPr txBox="1"/>
          <p:nvPr/>
        </p:nvSpPr>
        <p:spPr>
          <a:xfrm>
            <a:off x="2889504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7AEE9C2-8DB4-4E30-8DEE-E47A1B7DB657}"/>
              </a:ext>
            </a:extLst>
          </p:cNvPr>
          <p:cNvSpPr/>
          <p:nvPr/>
        </p:nvSpPr>
        <p:spPr>
          <a:xfrm>
            <a:off x="5065776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1F61AE8-0AD9-8091-ABE0-C14D7FA43BBA}"/>
              </a:ext>
            </a:extLst>
          </p:cNvPr>
          <p:cNvSpPr txBox="1"/>
          <p:nvPr/>
        </p:nvSpPr>
        <p:spPr>
          <a:xfrm>
            <a:off x="5111496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2953CDA-BC86-4499-B7A6-43ACAADB9CAE}"/>
              </a:ext>
            </a:extLst>
          </p:cNvPr>
          <p:cNvSpPr/>
          <p:nvPr/>
        </p:nvSpPr>
        <p:spPr>
          <a:xfrm>
            <a:off x="7287768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3D99344-8444-13C5-1E24-626418F4B2AC}"/>
              </a:ext>
            </a:extLst>
          </p:cNvPr>
          <p:cNvSpPr txBox="1"/>
          <p:nvPr/>
        </p:nvSpPr>
        <p:spPr>
          <a:xfrm>
            <a:off x="7333488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/ Select</a:t>
            </a:r>
            <a:endParaRPr lang="en-US" sz="12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E9E2C29-47D1-FEAA-DACF-C9E77128600A}"/>
              </a:ext>
            </a:extLst>
          </p:cNvPr>
          <p:cNvSpPr/>
          <p:nvPr/>
        </p:nvSpPr>
        <p:spPr>
          <a:xfrm>
            <a:off x="9509760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00D9A3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248A841-642C-DB24-0296-FB27A32ED277}"/>
              </a:ext>
            </a:extLst>
          </p:cNvPr>
          <p:cNvSpPr txBox="1"/>
          <p:nvPr/>
        </p:nvSpPr>
        <p:spPr>
          <a:xfrm>
            <a:off x="9555480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237E7BC-06C7-F027-D75C-5870DF8A3CCC}"/>
              </a:ext>
            </a:extLst>
          </p:cNvPr>
          <p:cNvSpPr txBox="1"/>
          <p:nvPr/>
        </p:nvSpPr>
        <p:spPr>
          <a:xfrm>
            <a:off x="548640" y="4617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B02AD97-3A87-7E7C-C5AE-34C7A11C1A10}"/>
              </a:ext>
            </a:extLst>
          </p:cNvPr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build something.</a:t>
            </a:r>
            <a:endParaRPr lang="en-US" sz="16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CF32067-67DE-066A-660E-C4C12A8EC416}"/>
              </a:ext>
            </a:extLst>
          </p:cNvPr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24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78127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18 · FLASK SESSIONS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Remembering the logged-in user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app.secret_key lets Flask securely sign session data.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2011045"/>
          </a:xfrm>
          <a:prstGeom prst="roundRect">
            <a:avLst>
              <a:gd name="adj" fmla="val 4092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9339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9339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9339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9110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4572000" cy="1370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 import session
</a:t>
            </a: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app.secret_key = "secret"
</a:t>
            </a: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session["user"] = username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14165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11416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4095877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session["user"] = username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4388485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logged-in user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955413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95541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937125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"user" not in session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5229733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they're logged 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796661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796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5778373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session.clear()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6070981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user out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1783080"/>
            <a:ext cx="539496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1783080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295144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63640" y="2459736"/>
            <a:ext cx="539496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2459736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credentials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297180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63640" y="3136392"/>
            <a:ext cx="5394960" cy="512064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3136392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session["user"] = username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3648456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63640" y="3813048"/>
            <a:ext cx="539496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63640" y="3813048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redirect("/home")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432511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263640" y="4489704"/>
            <a:ext cx="539496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63640" y="4489704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/home checks session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263640" y="500176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263640" y="5166360"/>
            <a:ext cx="539496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63640" y="5166360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redirect to login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19 · .GITIGNORE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secrets out of Git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Git which files or folders should NOT be tracked or pushed to GitHub.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937760" cy="1617345"/>
          </a:xfrm>
          <a:prstGeom prst="roundRect">
            <a:avLst>
              <a:gd name="adj" fmla="val 5088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134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23134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23134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231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51760"/>
            <a:ext cx="438912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
</a:t>
            </a:r>
            <a:r>
              <a:rPr lang="en-US" sz="15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__pycache__/
*.pyc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52160" y="21488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2423160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
</a:t>
            </a:r>
            <a:r>
              <a:rPr lang="en-US" sz="1300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
</a:t>
            </a:r>
            <a:r>
              <a:rPr lang="en-US" sz="1300" b="1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          </a:t>
            </a:r>
            <a:r>
              <a:rPr lang="en-US" sz="13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secret values
</a:t>
            </a:r>
            <a:r>
              <a:rPr lang="en-US" sz="13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.gitignore    </a:t>
            </a:r>
            <a:r>
              <a:rPr lang="en-US" sz="13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tells Git to ignore .env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0652760" cy="777240"/>
          </a:xfrm>
          <a:prstGeom prst="roundRect">
            <a:avLst>
              <a:gd name="adj" fmla="val 10588"/>
            </a:avLst>
          </a:prstGeom>
          <a:solidFill>
            <a:srgbClr val="3D1F26"/>
          </a:solidFill>
          <a:ln w="15240">
            <a:solidFill>
              <a:srgbClr val="E063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2628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Never push .env containing real secrets to GitHub.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24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20 · .ENV + SECRET KEY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the secret key safely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868680"/>
          </a:xfrm>
          <a:prstGeom prst="roundRect">
            <a:avLst>
              <a:gd name="adj" fmla="val 9474"/>
            </a:avLst>
          </a:prstGeom>
          <a:solidFill>
            <a:srgbClr val="10121C"/>
          </a:solidFill>
          <a:ln w="12700">
            <a:solidFill>
              <a:srgbClr val="5C2A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099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7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— hardcoded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933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9B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app.secret_key = "secret"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0" y="1600200"/>
            <a:ext cx="5074920" cy="868680"/>
          </a:xfrm>
          <a:prstGeom prst="roundRect">
            <a:avLst>
              <a:gd name="adj" fmla="val 9474"/>
            </a:avLst>
          </a:prstGeom>
          <a:solidFill>
            <a:srgbClr val="10121C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17099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9933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SECRET_KEY=my-secret-key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88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78892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182112" y="278892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82112" y="2788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559552" y="278892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815584" y="278892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F3F4F8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15584" y="2788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os.getenv(...)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93024" y="278892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449056" y="278892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49056" y="2788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app.secret_key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7680960" cy="2011045"/>
          </a:xfrm>
          <a:prstGeom prst="roundRect">
            <a:avLst>
              <a:gd name="adj" fmla="val 4092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86791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950976" y="386791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1152144" y="386791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371600" y="3785616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206240"/>
            <a:ext cx="7132320" cy="1370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
from dotenv import load_dotenv
</a:t>
            </a: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load_dotenv()
app.secret_key = os.getenv("SECRET_KEY")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988685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1F2E5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59886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python-dotenv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5988685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goes in .gitignore — the secret never reaches GitHub.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21 · THE COMPLETE PICTURE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authentication journey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991356" y="1417320"/>
            <a:ext cx="4206240" cy="384048"/>
          </a:xfrm>
          <a:prstGeom prst="roundRect">
            <a:avLst>
              <a:gd name="adj" fmla="val 16667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991356" y="1417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Page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991356" y="1801368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91356" y="1920240"/>
            <a:ext cx="4206240" cy="384048"/>
          </a:xfrm>
          <a:prstGeom prst="roundRect">
            <a:avLst>
              <a:gd name="adj" fmla="val 16667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91356" y="1920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991356" y="2304288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91356" y="2423160"/>
            <a:ext cx="4206240" cy="384048"/>
          </a:xfrm>
          <a:prstGeom prst="roundRect">
            <a:avLst>
              <a:gd name="adj" fmla="val 16667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91356" y="24231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request.form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91356" y="2807208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91356" y="2926080"/>
            <a:ext cx="4206240" cy="384048"/>
          </a:xfrm>
          <a:prstGeom prst="roundRect">
            <a:avLst>
              <a:gd name="adj" fmla="val 16667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91356" y="2926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 credentials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91356" y="3310128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91356" y="3429000"/>
            <a:ext cx="4206240" cy="384048"/>
          </a:xfrm>
          <a:prstGeom prst="roundRect">
            <a:avLst>
              <a:gd name="adj" fmla="val 16667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91356" y="34290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91356" y="3813048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91356" y="3931920"/>
            <a:ext cx="4206240" cy="384048"/>
          </a:xfrm>
          <a:prstGeom prst="roundRect">
            <a:avLst>
              <a:gd name="adj" fmla="val 16667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91356" y="39319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991356" y="4315968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91356" y="4434840"/>
            <a:ext cx="4206240" cy="384048"/>
          </a:xfrm>
          <a:prstGeom prst="roundRect">
            <a:avLst>
              <a:gd name="adj" fmla="val 16667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91356" y="44348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 Home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991356" y="4818888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91356" y="4937760"/>
            <a:ext cx="4206240" cy="384048"/>
          </a:xfrm>
          <a:prstGeom prst="roundRect">
            <a:avLst>
              <a:gd name="adj" fmla="val 16667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91356" y="49377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991356" y="5321808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991356" y="5440680"/>
            <a:ext cx="4206240" cy="384048"/>
          </a:xfrm>
          <a:prstGeom prst="roundRect">
            <a:avLst>
              <a:gd name="adj" fmla="val 16667"/>
            </a:avLst>
          </a:prstGeom>
          <a:solidFill>
            <a:srgbClr val="00D9A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991356" y="54406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session.clear()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24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eview of your QR Code">
            <a:extLst>
              <a:ext uri="{FF2B5EF4-FFF2-40B4-BE49-F238E27FC236}">
                <a16:creationId xmlns:a16="http://schemas.microsoft.com/office/drawing/2014/main" id="{7C8A608F-A3D1-DC48-731D-824871EEC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545" y="2184312"/>
            <a:ext cx="2985464" cy="298546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915631C-901B-9BCB-03C7-7D08ED98BD10}"/>
              </a:ext>
            </a:extLst>
          </p:cNvPr>
          <p:cNvSpPr/>
          <p:nvPr/>
        </p:nvSpPr>
        <p:spPr>
          <a:xfrm>
            <a:off x="8303698" y="1284889"/>
            <a:ext cx="2230821" cy="551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Menu - Assignment</a:t>
            </a:r>
            <a:endParaRPr lang="en-IN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4" name="Picture 3" descr="Preview of your QR Code">
            <a:extLst>
              <a:ext uri="{FF2B5EF4-FFF2-40B4-BE49-F238E27FC236}">
                <a16:creationId xmlns:a16="http://schemas.microsoft.com/office/drawing/2014/main" id="{A4C49FD1-245E-076A-7B84-036BC5E3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991" y="2184312"/>
            <a:ext cx="2985464" cy="29854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5C030D-1576-BD66-86DD-4FB8650EEE96}"/>
              </a:ext>
            </a:extLst>
          </p:cNvPr>
          <p:cNvSpPr/>
          <p:nvPr/>
        </p:nvSpPr>
        <p:spPr>
          <a:xfrm>
            <a:off x="1499563" y="1284889"/>
            <a:ext cx="2230821" cy="551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Flask Skill lab</a:t>
            </a:r>
            <a:endParaRPr lang="en-IN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3545B3-5EB1-113E-DF62-5C13581661D2}"/>
              </a:ext>
            </a:extLst>
          </p:cNvPr>
          <p:cNvSpPr/>
          <p:nvPr/>
        </p:nvSpPr>
        <p:spPr>
          <a:xfrm>
            <a:off x="4592231" y="328447"/>
            <a:ext cx="2230821" cy="551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GitHub Links</a:t>
            </a:r>
            <a:endParaRPr lang="en-IN" sz="2800" dirty="0">
              <a:ln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565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F6EC-73EF-65F5-839E-212F0658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0FCCE2-A160-0DA9-B89B-E528F64E7F94}"/>
              </a:ext>
            </a:extLst>
          </p:cNvPr>
          <p:cNvSpPr/>
          <p:nvPr/>
        </p:nvSpPr>
        <p:spPr>
          <a:xfrm>
            <a:off x="8303698" y="1284889"/>
            <a:ext cx="2230821" cy="551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Satyendra Nayak K</a:t>
            </a:r>
            <a:endParaRPr lang="en-IN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F74755-765B-8797-846C-73E9B1428697}"/>
              </a:ext>
            </a:extLst>
          </p:cNvPr>
          <p:cNvSpPr/>
          <p:nvPr/>
        </p:nvSpPr>
        <p:spPr>
          <a:xfrm>
            <a:off x="1499563" y="1284889"/>
            <a:ext cx="2230821" cy="551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Kavin Krishnan C</a:t>
            </a:r>
            <a:endParaRPr lang="en-IN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09BFB2-EB2F-4BE7-A602-6C66350E84CF}"/>
              </a:ext>
            </a:extLst>
          </p:cNvPr>
          <p:cNvSpPr/>
          <p:nvPr/>
        </p:nvSpPr>
        <p:spPr>
          <a:xfrm>
            <a:off x="4592231" y="328447"/>
            <a:ext cx="2230821" cy="551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Contact</a:t>
            </a:r>
            <a:endParaRPr lang="en-IN" sz="2800" dirty="0">
              <a:ln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4A18C1-1B44-EE89-71C9-197396423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83" y="2184312"/>
            <a:ext cx="3657600" cy="3657600"/>
          </a:xfrm>
          <a:prstGeom prst="rect">
            <a:avLst/>
          </a:prstGeom>
        </p:spPr>
      </p:pic>
      <p:pic>
        <p:nvPicPr>
          <p:cNvPr id="9" name="Picture 8" descr="Preview of your QR Code">
            <a:extLst>
              <a:ext uri="{FF2B5EF4-FFF2-40B4-BE49-F238E27FC236}">
                <a16:creationId xmlns:a16="http://schemas.microsoft.com/office/drawing/2014/main" id="{FFDF3694-A5D7-CF1D-4E50-D35627A05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587" y="2365614"/>
            <a:ext cx="3328101" cy="332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04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1792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43784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89504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Routes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65776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11496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87768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33488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0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55480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request.form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43784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89504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65776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11496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87768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33488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/ Select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09760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00D9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55480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617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build something.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1654</Words>
  <Application>Microsoft Office PowerPoint</Application>
  <PresentationFormat>Widescreen</PresentationFormat>
  <Paragraphs>429</Paragraphs>
  <Slides>31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Satya Narayana</cp:lastModifiedBy>
  <cp:revision>2</cp:revision>
  <dcterms:created xsi:type="dcterms:W3CDTF">2026-08-31T05:14:28Z</dcterms:created>
  <dcterms:modified xsi:type="dcterms:W3CDTF">2026-08-31T05:51:18Z</dcterms:modified>
</cp:coreProperties>
</file>